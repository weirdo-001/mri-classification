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59" r:id="rId6"/>
    <p:sldId id="261" r:id="rId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jvZajmZT3dNHAdOs1BEMBZsTc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10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5156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64592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224028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83464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42900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02336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61772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21208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80644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40080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699516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58952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183880" y="274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57200" y="93268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051560" y="93268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1645920" y="93268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2240280" y="93268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2834640" y="93268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3429000" y="93268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4023360" y="93268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6272786" y="406450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6867146" y="406450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7461506" y="406450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8055866" y="406450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8650226" y="406450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9244586" y="406450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457200" y="15910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1051560" y="15910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1645920" y="15910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2240280" y="15910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2834640" y="15910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3429000" y="15910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4023360" y="15910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4617720" y="15910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457200" y="2249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1051560" y="2249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1645920" y="2249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2240280" y="2249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2834640" y="2249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3429000" y="2249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4023360" y="2249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4617720" y="2249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457200" y="290779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1051560" y="290779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"/>
          <p:cNvSpPr/>
          <p:nvPr/>
        </p:nvSpPr>
        <p:spPr>
          <a:xfrm>
            <a:off x="1645920" y="290779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2240280" y="290779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"/>
          <p:cNvSpPr/>
          <p:nvPr/>
        </p:nvSpPr>
        <p:spPr>
          <a:xfrm>
            <a:off x="2834640" y="290779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3429000" y="290779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"/>
          <p:cNvSpPr/>
          <p:nvPr/>
        </p:nvSpPr>
        <p:spPr>
          <a:xfrm>
            <a:off x="4023360" y="290779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"/>
          <p:cNvSpPr/>
          <p:nvPr/>
        </p:nvSpPr>
        <p:spPr>
          <a:xfrm>
            <a:off x="6400800" y="290779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"/>
          <p:cNvSpPr/>
          <p:nvPr/>
        </p:nvSpPr>
        <p:spPr>
          <a:xfrm>
            <a:off x="6995160" y="290779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457200" y="3566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1051560" y="3566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645920" y="3566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2240280" y="3566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2834640" y="3566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3429000" y="3566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4023360" y="3566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6400800" y="3566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6995160" y="3566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7589520" y="3566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8183880" y="3566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45720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105156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164592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224028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283464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342900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402336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461772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521208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580644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640080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699516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758952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"/>
          <p:cNvSpPr/>
          <p:nvPr/>
        </p:nvSpPr>
        <p:spPr>
          <a:xfrm>
            <a:off x="8183880" y="42245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45720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"/>
          <p:cNvSpPr/>
          <p:nvPr/>
        </p:nvSpPr>
        <p:spPr>
          <a:xfrm>
            <a:off x="105156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164592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224028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283464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342900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"/>
          <p:cNvSpPr/>
          <p:nvPr/>
        </p:nvSpPr>
        <p:spPr>
          <a:xfrm>
            <a:off x="402336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"/>
          <p:cNvSpPr/>
          <p:nvPr/>
        </p:nvSpPr>
        <p:spPr>
          <a:xfrm>
            <a:off x="461772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"/>
          <p:cNvSpPr/>
          <p:nvPr/>
        </p:nvSpPr>
        <p:spPr>
          <a:xfrm>
            <a:off x="521208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"/>
          <p:cNvSpPr/>
          <p:nvPr/>
        </p:nvSpPr>
        <p:spPr>
          <a:xfrm>
            <a:off x="580644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"/>
          <p:cNvSpPr/>
          <p:nvPr/>
        </p:nvSpPr>
        <p:spPr>
          <a:xfrm>
            <a:off x="640080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"/>
          <p:cNvSpPr/>
          <p:nvPr/>
        </p:nvSpPr>
        <p:spPr>
          <a:xfrm>
            <a:off x="699516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"/>
          <p:cNvSpPr/>
          <p:nvPr/>
        </p:nvSpPr>
        <p:spPr>
          <a:xfrm>
            <a:off x="758952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"/>
          <p:cNvSpPr/>
          <p:nvPr/>
        </p:nvSpPr>
        <p:spPr>
          <a:xfrm>
            <a:off x="8183880" y="48828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B43"/>
          </a:solidFill>
          <a:ln w="12700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"/>
          <p:cNvSpPr/>
          <p:nvPr/>
        </p:nvSpPr>
        <p:spPr>
          <a:xfrm>
            <a:off x="548640" y="91440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4600"/>
              <a:buFont typeface="Calibri"/>
              <a:buNone/>
            </a:pPr>
            <a:r>
              <a:rPr lang="en-US" sz="7000" b="1" i="0" u="none" strike="noStrike" cap="none" dirty="0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Brain Tumor</a:t>
            </a:r>
            <a:endParaRPr sz="7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566929" y="187452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4600"/>
              <a:buFont typeface="Calibri"/>
              <a:buNone/>
            </a:pPr>
            <a:r>
              <a:rPr lang="en-US" sz="5500" b="1" i="0" u="none" strike="noStrike" cap="none" dirty="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MRI Classifier</a:t>
            </a:r>
            <a:endParaRPr sz="5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597625" y="2857501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500"/>
              <a:buFont typeface="Calibri"/>
              <a:buNone/>
            </a:pPr>
            <a:r>
              <a:rPr lang="en-US" sz="1500" b="0" i="0" u="none" strike="noStrike" cap="none" dirty="0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AI-Powered Diagnostics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82;p5">
            <a:extLst>
              <a:ext uri="{FF2B5EF4-FFF2-40B4-BE49-F238E27FC236}">
                <a16:creationId xmlns:a16="http://schemas.microsoft.com/office/drawing/2014/main" id="{303BEE4A-E95E-FD0A-B13E-F59E20C16A51}"/>
              </a:ext>
            </a:extLst>
          </p:cNvPr>
          <p:cNvSpPr/>
          <p:nvPr/>
        </p:nvSpPr>
        <p:spPr>
          <a:xfrm>
            <a:off x="6409946" y="3566160"/>
            <a:ext cx="2487168" cy="965998"/>
          </a:xfrm>
          <a:prstGeom prst="rect">
            <a:avLst/>
          </a:prstGeom>
          <a:solidFill>
            <a:srgbClr val="131C2E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83;p5">
            <a:extLst>
              <a:ext uri="{FF2B5EF4-FFF2-40B4-BE49-F238E27FC236}">
                <a16:creationId xmlns:a16="http://schemas.microsoft.com/office/drawing/2014/main" id="{3FCEDA6A-9E80-B825-F8EF-9FFF9AE5859B}"/>
              </a:ext>
            </a:extLst>
          </p:cNvPr>
          <p:cNvSpPr/>
          <p:nvPr/>
        </p:nvSpPr>
        <p:spPr>
          <a:xfrm flipH="1">
            <a:off x="6419089" y="3564037"/>
            <a:ext cx="45719" cy="939711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87;p5">
            <a:extLst>
              <a:ext uri="{FF2B5EF4-FFF2-40B4-BE49-F238E27FC236}">
                <a16:creationId xmlns:a16="http://schemas.microsoft.com/office/drawing/2014/main" id="{B8916E19-78C3-D2D2-5D9C-960214531DDA}"/>
              </a:ext>
            </a:extLst>
          </p:cNvPr>
          <p:cNvSpPr/>
          <p:nvPr/>
        </p:nvSpPr>
        <p:spPr>
          <a:xfrm>
            <a:off x="6684266" y="42940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93;p5">
            <a:extLst>
              <a:ext uri="{FF2B5EF4-FFF2-40B4-BE49-F238E27FC236}">
                <a16:creationId xmlns:a16="http://schemas.microsoft.com/office/drawing/2014/main" id="{4F04A17A-FFFF-C9A1-C88C-A401C7AEEF54}"/>
              </a:ext>
            </a:extLst>
          </p:cNvPr>
          <p:cNvSpPr/>
          <p:nvPr/>
        </p:nvSpPr>
        <p:spPr>
          <a:xfrm>
            <a:off x="5029200" y="193036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95;p5">
            <a:extLst>
              <a:ext uri="{FF2B5EF4-FFF2-40B4-BE49-F238E27FC236}">
                <a16:creationId xmlns:a16="http://schemas.microsoft.com/office/drawing/2014/main" id="{3DF4EC27-3232-1020-2594-76674E6A2320}"/>
              </a:ext>
            </a:extLst>
          </p:cNvPr>
          <p:cNvSpPr/>
          <p:nvPr/>
        </p:nvSpPr>
        <p:spPr>
          <a:xfrm>
            <a:off x="5029200" y="218639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85;p5">
            <a:extLst>
              <a:ext uri="{FF2B5EF4-FFF2-40B4-BE49-F238E27FC236}">
                <a16:creationId xmlns:a16="http://schemas.microsoft.com/office/drawing/2014/main" id="{F915A161-B215-2A64-5F60-6D9D4783FF53}"/>
              </a:ext>
            </a:extLst>
          </p:cNvPr>
          <p:cNvSpPr/>
          <p:nvPr/>
        </p:nvSpPr>
        <p:spPr>
          <a:xfrm>
            <a:off x="6588578" y="3602736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86;p5">
            <a:extLst>
              <a:ext uri="{FF2B5EF4-FFF2-40B4-BE49-F238E27FC236}">
                <a16:creationId xmlns:a16="http://schemas.microsoft.com/office/drawing/2014/main" id="{708B2630-8814-5774-5C09-4195D4A5042C}"/>
              </a:ext>
            </a:extLst>
          </p:cNvPr>
          <p:cNvSpPr/>
          <p:nvPr/>
        </p:nvSpPr>
        <p:spPr>
          <a:xfrm>
            <a:off x="6601970" y="406450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DD4BF"/>
              </a:buClr>
              <a:buSzPts val="1000"/>
            </a:pPr>
            <a:r>
              <a:rPr lang="en-US" sz="1000" dirty="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Aarushi Sharma (2310990258)</a:t>
            </a:r>
            <a:br>
              <a:rPr lang="en-US" sz="1000" dirty="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dirty="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Aditya Goyal (2310990266)</a:t>
            </a:r>
            <a:br>
              <a:rPr lang="en-US" sz="1000" dirty="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dirty="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Ashna Sharma (2310990391)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Why AI-Assisted Brain Tumor Detection Matters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457200" y="1097280"/>
            <a:ext cx="1920240" cy="146304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566928" y="1234440"/>
            <a:ext cx="170078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330,000+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566928" y="1755648"/>
            <a:ext cx="17007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New brain tumor cases globally per year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2560320" y="1097280"/>
            <a:ext cx="1920240" cy="146304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2560320" y="1097280"/>
            <a:ext cx="1920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2670048" y="1234440"/>
            <a:ext cx="170078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36–48hr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2670048" y="1755648"/>
            <a:ext cx="17007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Avg. wait time for MRI radiology report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4663440" y="1097280"/>
            <a:ext cx="1920240" cy="146304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4663440" y="1097280"/>
            <a:ext cx="192024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4773168" y="1234440"/>
            <a:ext cx="170078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~10–20%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773168" y="1755648"/>
            <a:ext cx="17007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Misdiagnosis rate in complex MRI reads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6766560" y="1097280"/>
            <a:ext cx="1920240" cy="146304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6766560" y="1097280"/>
            <a:ext cx="19202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6876288" y="1234440"/>
            <a:ext cx="170078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2200" b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2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%+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6876288" y="1755648"/>
            <a:ext cx="17007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Achievable accuracy with deep learning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503700" y="2796800"/>
            <a:ext cx="8136600" cy="166560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885104" y="2872497"/>
            <a:ext cx="73737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885104" y="3213135"/>
            <a:ext cx="73737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✓  Instant AI classification of MRI scans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885104" y="3440227"/>
            <a:ext cx="73737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✓  4 tumor categories detected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885104" y="3667319"/>
            <a:ext cx="73737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✓  87.5% training accuracy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885104" y="3894411"/>
            <a:ext cx="73737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✓  Web app accessible to any clinician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885104" y="4121503"/>
            <a:ext cx="73737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✓  EfficientNet-B3 architecture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Full ML Pipeline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End-to-end process from raw data to deployment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274320" y="1828800"/>
            <a:ext cx="1325880" cy="123444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274320" y="1828800"/>
            <a:ext cx="13258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320040" y="1956816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Kaggle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320040" y="2450592"/>
            <a:ext cx="12344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7,023 MRI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1600200" y="2404872"/>
            <a:ext cx="41148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1737360" y="1828800"/>
            <a:ext cx="1325880" cy="123444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1737360" y="1828800"/>
            <a:ext cx="132588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1783080" y="1956816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Data Split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1783080" y="2450592"/>
            <a:ext cx="12344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Train 80%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Test 20%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063240" y="2404872"/>
            <a:ext cx="41148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3200400" y="1828800"/>
            <a:ext cx="1325880" cy="123444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3200400" y="1828800"/>
            <a:ext cx="132588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3246120" y="1956816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Augment &amp;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Preprocess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3246120" y="2450592"/>
            <a:ext cx="12344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Flip·Rotate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Zoom·Normalize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4526280" y="2404872"/>
            <a:ext cx="41148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4663440" y="1828800"/>
            <a:ext cx="1325880" cy="123444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4663440" y="1828800"/>
            <a:ext cx="1325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4709160" y="1956816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EfficientNet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B3 Base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709160" y="2450592"/>
            <a:ext cx="12344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Frozen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ImageNet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5989320" y="2404872"/>
            <a:ext cx="41148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6126480" y="1828800"/>
            <a:ext cx="1325880" cy="123444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6126480" y="1828800"/>
            <a:ext cx="1325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6172200" y="1956816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Custom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172200" y="2450592"/>
            <a:ext cx="12344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Dense 256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Dropout 0.5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7452360" y="2404872"/>
            <a:ext cx="41148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7589520" y="1828800"/>
            <a:ext cx="1325880" cy="123444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7589520" y="1828800"/>
            <a:ext cx="13258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7635240" y="1956816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Train &amp;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Fine-tune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7635240" y="2450592"/>
            <a:ext cx="12344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Adam 1e-4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→ 1e-5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48638" y="3360425"/>
            <a:ext cx="1783200" cy="1188600"/>
          </a:xfrm>
          <a:prstGeom prst="rect">
            <a:avLst/>
          </a:prstGeom>
          <a:solidFill>
            <a:srgbClr val="131C2E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548638" y="3360425"/>
            <a:ext cx="1783200" cy="639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612646" y="3479297"/>
            <a:ext cx="1655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12646" y="3909065"/>
            <a:ext cx="16551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Classification Report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2331718" y="3909065"/>
            <a:ext cx="402300" cy="45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2743198" y="3360425"/>
            <a:ext cx="1783200" cy="1188600"/>
          </a:xfrm>
          <a:prstGeom prst="rect">
            <a:avLst/>
          </a:prstGeom>
          <a:solidFill>
            <a:srgbClr val="131C2E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2743198" y="3360425"/>
            <a:ext cx="1783200" cy="6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2807206" y="3479297"/>
            <a:ext cx="1655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Tune &amp;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Iterate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2807206" y="3909065"/>
            <a:ext cx="16551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4 versions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82% → 87.5%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526278" y="3909065"/>
            <a:ext cx="402300" cy="45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4937758" y="3360425"/>
            <a:ext cx="1783200" cy="1188600"/>
          </a:xfrm>
          <a:prstGeom prst="rect">
            <a:avLst/>
          </a:prstGeom>
          <a:solidFill>
            <a:srgbClr val="131C2E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4937758" y="3360425"/>
            <a:ext cx="1783200" cy="6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5001766" y="3479297"/>
            <a:ext cx="1655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Save Model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5001766" y="3909065"/>
            <a:ext cx="16551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tumor_model.keras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Optimal weights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6720838" y="3909065"/>
            <a:ext cx="402300" cy="45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7132318" y="3360425"/>
            <a:ext cx="1783200" cy="1188600"/>
          </a:xfrm>
          <a:prstGeom prst="rect">
            <a:avLst/>
          </a:prstGeom>
          <a:solidFill>
            <a:srgbClr val="131C2E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7132318" y="3360425"/>
            <a:ext cx="1783200" cy="639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7196326" y="3479297"/>
            <a:ext cx="1655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7196326" y="3909065"/>
            <a:ext cx="16551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Web deployment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Real-time inference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822960" y="3063240"/>
            <a:ext cx="45720" cy="365760"/>
          </a:xfrm>
          <a:prstGeom prst="rect">
            <a:avLst/>
          </a:prstGeom>
          <a:solidFill>
            <a:srgbClr val="7A8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274320" y="3108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↓ Then: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Kaggle Brain Tumor MRI Dataset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131C2E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457200" y="1097280"/>
            <a:ext cx="54864" cy="2286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4" name="Google Shape;184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0" y="11887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/>
          <p:nvPr/>
        </p:nvSpPr>
        <p:spPr>
          <a:xfrm>
            <a:off x="685800" y="117043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Kaggle Dataset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85800" y="150876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Brain Tumor MRI Images (4 Class Classification)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85800" y="185623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Total Images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2651760" y="185623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7,</a:t>
            </a:r>
            <a:r>
              <a:rPr lang="en-US" sz="1000" b="1" dirty="0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023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85800" y="211226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Training Set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651760" y="211226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5,712 (80%)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85800" y="236829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Testing Set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2651760" y="236829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1,311 (20%)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685800" y="262432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Image Format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2651760" y="262432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JPG / PNG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685800" y="28803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Input Resolution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2651760" y="288036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300 × 300 px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572000" y="1097280"/>
            <a:ext cx="4206240" cy="228600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4754880" y="11887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Class Distribution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754880" y="16002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Glioma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217920" y="1655064"/>
            <a:ext cx="2011680" cy="146304"/>
          </a:xfrm>
          <a:prstGeom prst="rect">
            <a:avLst/>
          </a:prstGeom>
          <a:solidFill>
            <a:srgbClr val="1E2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6217920" y="1655064"/>
            <a:ext cx="1251712" cy="1463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8302752" y="16002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1621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754880" y="19842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Meningioma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217920" y="2039112"/>
            <a:ext cx="2011680" cy="146304"/>
          </a:xfrm>
          <a:prstGeom prst="rect">
            <a:avLst/>
          </a:prstGeom>
          <a:solidFill>
            <a:srgbClr val="1E2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217920" y="2039112"/>
            <a:ext cx="1296416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8302752" y="198424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1645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754880" y="236829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No Tumor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6217920" y="2423160"/>
            <a:ext cx="2011680" cy="146304"/>
          </a:xfrm>
          <a:prstGeom prst="rect">
            <a:avLst/>
          </a:prstGeom>
          <a:solidFill>
            <a:srgbClr val="1E2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6217920" y="2423160"/>
            <a:ext cx="1564640" cy="1463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8302752" y="236829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2000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4754880" y="275234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Pituitary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6217920" y="2807208"/>
            <a:ext cx="2011680" cy="146304"/>
          </a:xfrm>
          <a:prstGeom prst="rect">
            <a:avLst/>
          </a:prstGeom>
          <a:solidFill>
            <a:srgbClr val="1E2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6217920" y="2807208"/>
            <a:ext cx="1385824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8302752" y="275234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1757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457200" y="3520440"/>
            <a:ext cx="8321040" cy="1417320"/>
          </a:xfrm>
          <a:prstGeom prst="rect">
            <a:avLst/>
          </a:prstGeom>
          <a:solidFill>
            <a:srgbClr val="131C2E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640080" y="36118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Preprocessing Pipeline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37210" y="3977640"/>
            <a:ext cx="1188720" cy="64008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2DD4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555498" y="3995928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Raw MRI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1725930" y="4270248"/>
            <a:ext cx="201168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1881378" y="4206240"/>
            <a:ext cx="54864" cy="182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1927098" y="3977640"/>
            <a:ext cx="1188720" cy="64008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2DD4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1945386" y="3995928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Resize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300×300px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115818" y="4270248"/>
            <a:ext cx="201168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3271266" y="4206240"/>
            <a:ext cx="54864" cy="182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3316986" y="3977640"/>
            <a:ext cx="1188720" cy="64008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2DD4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3335274" y="3995928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Normalize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(EfficientNet)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505706" y="4270248"/>
            <a:ext cx="201168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4661154" y="4206240"/>
            <a:ext cx="54864" cy="182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4706874" y="3977640"/>
            <a:ext cx="1188720" cy="64008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2DD4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4725162" y="3995928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Augmentation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(Flip/Rotate/Zoom)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5895594" y="4270248"/>
            <a:ext cx="201168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6051042" y="4206240"/>
            <a:ext cx="54864" cy="182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6096762" y="3977640"/>
            <a:ext cx="1188720" cy="64008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2DD4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6115050" y="3995928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Feed (32)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7285482" y="4270248"/>
            <a:ext cx="201168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7440930" y="4206240"/>
            <a:ext cx="54864" cy="182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7486650" y="3977640"/>
            <a:ext cx="1188720" cy="64008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2DD4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7504938" y="3995928"/>
            <a:ext cx="115214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Training Journey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Iterative improvements from 82% → 87.5% accuracy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571505" y="2075670"/>
            <a:ext cx="7041000" cy="36600"/>
          </a:xfrm>
          <a:prstGeom prst="rect">
            <a:avLst/>
          </a:prstGeom>
          <a:solidFill>
            <a:srgbClr val="1E2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160025" y="1069830"/>
            <a:ext cx="2103000" cy="356610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160025" y="1069830"/>
            <a:ext cx="2103000" cy="73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982985" y="1984230"/>
            <a:ext cx="183000" cy="183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251465" y="120699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v1.0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251465" y="1545318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82.0%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269753" y="230427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69753" y="2551158"/>
            <a:ext cx="1883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img: 224px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batch: 16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epochs: 20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dropout: 0.3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251465" y="3355830"/>
            <a:ext cx="1920300" cy="54900"/>
          </a:xfrm>
          <a:prstGeom prst="rect">
            <a:avLst/>
          </a:prstGeom>
          <a:solidFill>
            <a:srgbClr val="1E2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251465" y="3465558"/>
            <a:ext cx="1920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Baseline — underfitting with small input size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2400305" y="1069830"/>
            <a:ext cx="2103000" cy="356610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2400305" y="1069830"/>
            <a:ext cx="2103000" cy="7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3223265" y="1984230"/>
            <a:ext cx="183000" cy="183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2491745" y="120699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v2.0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2491745" y="1545318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84.5%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2510033" y="230427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2510033" y="2551158"/>
            <a:ext cx="1883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img: 250px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batch: 16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epochs: 25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dropout: 0.3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2491745" y="3355830"/>
            <a:ext cx="1920300" cy="54900"/>
          </a:xfrm>
          <a:prstGeom prst="rect">
            <a:avLst/>
          </a:prstGeom>
          <a:solidFill>
            <a:srgbClr val="1E2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2491745" y="3465558"/>
            <a:ext cx="1920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Increased image size improved feature capture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640585" y="1069830"/>
            <a:ext cx="2103000" cy="356610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640585" y="1069830"/>
            <a:ext cx="2103000" cy="73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5463545" y="1984230"/>
            <a:ext cx="183000" cy="183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4732025" y="120699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v3.0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732025" y="1545318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83.9%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750313" y="230427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750313" y="2551158"/>
            <a:ext cx="1883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img: 300px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batch: 16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epochs: 25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dropout: 0.4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4732025" y="3355830"/>
            <a:ext cx="1920300" cy="54900"/>
          </a:xfrm>
          <a:prstGeom prst="rect">
            <a:avLst/>
          </a:prstGeom>
          <a:solidFill>
            <a:srgbClr val="1E2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4732025" y="3465558"/>
            <a:ext cx="1920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Larger input but same batch caused instability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6880865" y="1069830"/>
            <a:ext cx="2103000" cy="3566100"/>
          </a:xfrm>
          <a:prstGeom prst="rect">
            <a:avLst/>
          </a:prstGeom>
          <a:solidFill>
            <a:srgbClr val="0A1A1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6880865" y="1069830"/>
            <a:ext cx="2103000" cy="7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7703825" y="1984230"/>
            <a:ext cx="183000" cy="183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6972305" y="120699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v4.0 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972305" y="1545318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87.5%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990593" y="230427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990593" y="2551158"/>
            <a:ext cx="1883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img: 300px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batch: 32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epochs: 30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dropout: 0.5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972305" y="3355830"/>
            <a:ext cx="1920300" cy="54900"/>
          </a:xfrm>
          <a:prstGeom prst="rect">
            <a:avLst/>
          </a:prstGeom>
          <a:solidFill>
            <a:srgbClr val="1E2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6972305" y="3465558"/>
            <a:ext cx="1920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Optimal config — fine-tuning last 50 layers unlocked peak performance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Streamlit Web Application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765300" y="841225"/>
            <a:ext cx="7613400" cy="3749100"/>
          </a:xfrm>
          <a:prstGeom prst="rect">
            <a:avLst/>
          </a:prstGeom>
          <a:solidFill>
            <a:srgbClr val="131C2E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765300" y="841225"/>
            <a:ext cx="118800" cy="3749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1259675" y="914377"/>
            <a:ext cx="711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Application Features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1259675" y="1344146"/>
            <a:ext cx="6921300" cy="47550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1516750" y="1380722"/>
            <a:ext cx="69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📤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2307749" y="1380722"/>
            <a:ext cx="5536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MRI Upload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2307749" y="1591035"/>
            <a:ext cx="5536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Drag &amp; drop JPG/PNG scan upload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1259675" y="1874500"/>
            <a:ext cx="6921300" cy="47550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1516750" y="1911076"/>
            <a:ext cx="69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2307749" y="1911076"/>
            <a:ext cx="5536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AI Classification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2307749" y="2121388"/>
            <a:ext cx="5536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EfficientNet inference in &lt;2 seconds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1259675" y="2404853"/>
            <a:ext cx="6921300" cy="47550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1516750" y="2441429"/>
            <a:ext cx="69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2307749" y="2441429"/>
            <a:ext cx="5536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Radar + Donut Charts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2307749" y="2651742"/>
            <a:ext cx="5536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Interactive Plotly probability visualizations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1259675" y="2935207"/>
            <a:ext cx="6921300" cy="47550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1516750" y="2971783"/>
            <a:ext cx="69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2307749" y="2971783"/>
            <a:ext cx="5536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Clinical Info Tabs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2307749" y="3182095"/>
            <a:ext cx="5536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Symptoms, treatments, survival statistics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1259675" y="3465560"/>
            <a:ext cx="6921300" cy="47550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1516750" y="3502136"/>
            <a:ext cx="69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2307749" y="3502136"/>
            <a:ext cx="5536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Confidence Gauge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2307749" y="3712449"/>
            <a:ext cx="5536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Visual confidence score with gauge chart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1259675" y="3995913"/>
            <a:ext cx="6921300" cy="475500"/>
          </a:xfrm>
          <a:prstGeom prst="rect">
            <a:avLst/>
          </a:prstGeom>
          <a:solidFill>
            <a:srgbClr val="0C1220"/>
          </a:solidFill>
          <a:ln w="9525" cap="flat" cmpd="sng">
            <a:solidFill>
              <a:srgbClr val="1E2B4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1516750" y="4032490"/>
            <a:ext cx="69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2307749" y="4032490"/>
            <a:ext cx="5536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Private Processing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2307749" y="4242802"/>
            <a:ext cx="5536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9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A8599"/>
                </a:solidFill>
                <a:latin typeface="Calibri"/>
                <a:ea typeface="Calibri"/>
                <a:cs typeface="Calibri"/>
                <a:sym typeface="Calibri"/>
              </a:rPr>
              <a:t>All computation is local — no data leaves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457200" y="4709160"/>
            <a:ext cx="8321040" cy="274320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594360" y="4727448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🌐  Live App:  https://braintumor-uj22jocktsxsitae7gygdw.streamlit.app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449</Words>
  <Application>Microsoft Office PowerPoint</Application>
  <PresentationFormat>On-screen Show (16:9)</PresentationFormat>
  <Paragraphs>158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AARUSHI SHARMA</cp:lastModifiedBy>
  <cp:revision>4</cp:revision>
  <dcterms:created xsi:type="dcterms:W3CDTF">2026-02-25T07:01:50Z</dcterms:created>
  <dcterms:modified xsi:type="dcterms:W3CDTF">2026-02-26T04:54:28Z</dcterms:modified>
</cp:coreProperties>
</file>